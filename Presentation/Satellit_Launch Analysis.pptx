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7" r:id="rId4"/>
    <p:sldId id="258" r:id="rId5"/>
    <p:sldId id="269" r:id="rId6"/>
    <p:sldId id="270" r:id="rId7"/>
    <p:sldId id="261" r:id="rId8"/>
    <p:sldId id="273" r:id="rId9"/>
    <p:sldId id="275" r:id="rId10"/>
    <p:sldId id="264" r:id="rId11"/>
    <p:sldId id="265" r:id="rId12"/>
  </p:sldIdLst>
  <p:sldSz cx="18288000" cy="10287000"/>
  <p:notesSz cx="6858000" cy="9144000"/>
  <p:embeddedFontLst>
    <p:embeddedFont>
      <p:font typeface="SimSun" panose="02010600030101010101" pitchFamily="2" charset="-122"/>
      <p:regular r:id="rId16"/>
    </p:embeddedFont>
    <p:embeddedFont>
      <p:font typeface="Poppins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53" autoAdjust="0"/>
    <p:restoredTop sz="94622" autoAdjust="0"/>
  </p:normalViewPr>
  <p:slideViewPr>
    <p:cSldViewPr showGuides="1">
      <p:cViewPr varScale="1">
        <p:scale>
          <a:sx n="46" d="100"/>
          <a:sy n="46" d="100"/>
        </p:scale>
        <p:origin x="480" y="66"/>
      </p:cViewPr>
      <p:guideLst>
        <p:guide orient="horz" pos="21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134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36626" y="1795463"/>
            <a:ext cx="16414750" cy="162401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39800" y="3633788"/>
            <a:ext cx="16424276" cy="26289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62125"/>
            <a:ext cx="8077200" cy="742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1762125"/>
            <a:ext cx="8077200" cy="742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285750"/>
            <a:ext cx="4114800" cy="89058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85750"/>
            <a:ext cx="12039600" cy="8905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83134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914400" y="285750"/>
            <a:ext cx="16459200" cy="8739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914400" y="1762125"/>
            <a:ext cx="16459200" cy="7429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944622"/>
            <a:ext cx="11753478" cy="0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881352" y="6210300"/>
            <a:ext cx="11519996" cy="0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511191" cy="10287000"/>
            <a:chOff x="0" y="0"/>
            <a:chExt cx="134635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62000" y="2985770"/>
            <a:ext cx="8642350" cy="31838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6000" b="1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Satellite</a:t>
            </a:r>
            <a:r>
              <a:rPr lang="en-GB" sz="6000" b="1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Deployment Trend </a:t>
            </a:r>
            <a:r>
              <a:rPr sz="6000" b="1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Analysis</a:t>
            </a:r>
            <a:endParaRPr lang="en-US" sz="6000" b="1" dirty="0">
              <a:solidFill>
                <a:schemeClr val="accent4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2955" y="6351905"/>
            <a:ext cx="14609445" cy="37826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lang="en-US" sz="2800" b="1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Domain Name : </a:t>
            </a:r>
            <a:r>
              <a:rPr lang="en-GB" altLang="en-US" sz="2800" b="1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Data Analytics</a:t>
            </a:r>
            <a:endParaRPr lang="en-US" sz="2800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US" sz="2800" dirty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sz="2800" b="1" dirty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P</a:t>
            </a:r>
            <a:r>
              <a:rPr lang="en-US" sz="2800" b="1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resented By :    </a:t>
            </a:r>
            <a:endParaRPr lang="en-US" sz="2800" b="1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US" sz="2800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                    </a:t>
            </a:r>
            <a:r>
              <a:rPr lang="en-GB" altLang="en-US" sz="2800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Miss. Rajeshwari Handge</a:t>
            </a:r>
            <a:endParaRPr lang="en-GB" altLang="en-US" sz="2800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GB" altLang="en-US" sz="2800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endParaRPr lang="en-GB" altLang="en-US" sz="2800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GB" altLang="en-US" sz="2800" b="1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Mentor Name:</a:t>
            </a:r>
            <a:endParaRPr lang="en-GB" altLang="en-US" sz="2800" b="1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GB" altLang="en-US" sz="2800" dirty="0" smtClean="0">
                <a:solidFill>
                  <a:schemeClr val="accent4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                   Mr. Chaitanya Dahale</a:t>
            </a:r>
            <a:endParaRPr lang="en-GB" altLang="en-US" sz="2800" dirty="0" smtClean="0">
              <a:solidFill>
                <a:schemeClr val="accent4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algn="l">
              <a:lnSpc>
                <a:spcPts val="3360"/>
              </a:lnSpc>
            </a:pPr>
            <a:r>
              <a:rPr lang="en-GB" altLang="en-US" sz="2400" dirty="0" smtClean="0">
                <a:solidFill>
                  <a:schemeClr val="tx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lang="en-GB" altLang="en-US" sz="2400" dirty="0" smtClean="0">
              <a:solidFill>
                <a:schemeClr val="tx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91" y="370242"/>
            <a:ext cx="5356209" cy="19740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0" y="114300"/>
            <a:ext cx="2971800" cy="22523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038590" y="1080770"/>
            <a:ext cx="7454265" cy="1037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2820" y="3477260"/>
            <a:ext cx="16476980" cy="67811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Satellites play a critical role in:</a:t>
            </a:r>
            <a:endParaRPr lang="en-US" altLang="en-GB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485900" lvl="2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Communication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 , </a:t>
            </a: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Navigation (GPS / NavIC)</a:t>
            </a:r>
            <a:endParaRPr lang="en-US" altLang="en-GB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485900" lvl="2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Weather forecasting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,</a:t>
            </a: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National security</a:t>
            </a:r>
            <a:endParaRPr lang="en-US" altLang="en-GB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485900" lvl="2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Scientific research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,etc.</a:t>
            </a:r>
            <a:endParaRPr lang="en-US" altLang="en-GB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Every year, more satellites are launched globally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,</a:t>
            </a: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ISRO is emerging as a key global space player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.</a:t>
            </a:r>
            <a:endParaRPr lang="en-US" altLang="en-GB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This project analyzes </a:t>
            </a:r>
            <a:r>
              <a:rPr lang="en-GB" altLang="en-US" sz="4000" dirty="0">
                <a:solidFill>
                  <a:schemeClr val="tx2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the Satellite Launches Globally.</a:t>
            </a:r>
            <a:endParaRPr lang="en-GB" altLang="en-US" sz="4000" dirty="0">
              <a:solidFill>
                <a:schemeClr val="tx2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sp>
        <p:nvSpPr>
          <p:cNvPr id="4" name="AutoShape 4"/>
          <p:cNvSpPr/>
          <p:nvPr/>
        </p:nvSpPr>
        <p:spPr>
          <a:xfrm flipH="1">
            <a:off x="1143000" y="3088006"/>
            <a:ext cx="11887200" cy="76199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66800" y="2160270"/>
            <a:ext cx="7391400" cy="10356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800"/>
              </a:lnSpc>
            </a:pPr>
            <a:r>
              <a:rPr lang="en-US" sz="5400" b="1" dirty="0" smtClean="0">
                <a:solidFill>
                  <a:schemeClr val="accent4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Introduction</a:t>
            </a:r>
            <a:endParaRPr lang="en-US" sz="5400" b="1" dirty="0" smtClean="0">
              <a:solidFill>
                <a:schemeClr val="accent4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511191" cy="10287000"/>
            <a:chOff x="0" y="0"/>
            <a:chExt cx="134635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1"/>
            <a:ext cx="5272166" cy="19431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0" y="342900"/>
            <a:ext cx="2971800" cy="243903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"/>
          <p:cNvSpPr txBox="1"/>
          <p:nvPr/>
        </p:nvSpPr>
        <p:spPr>
          <a:xfrm>
            <a:off x="5609590" y="973645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218975" y="2869565"/>
            <a:ext cx="11328094" cy="0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" name="TextBox 6"/>
          <p:cNvSpPr txBox="1"/>
          <p:nvPr/>
        </p:nvSpPr>
        <p:spPr>
          <a:xfrm>
            <a:off x="1066800" y="1891308"/>
            <a:ext cx="6837486" cy="871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GB" altLang="en-US" sz="5400" b="1" dirty="0">
                <a:solidFill>
                  <a:schemeClr val="tx1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Objectives</a:t>
            </a:r>
            <a:endParaRPr lang="en-GB" altLang="en-US" sz="5400" b="1" dirty="0">
              <a:solidFill>
                <a:schemeClr val="tx1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9120" y="3072765"/>
            <a:ext cx="16769715" cy="71659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4000" b="1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Primary Objectives:</a:t>
            </a:r>
            <a:endParaRPr lang="en-US" altLang="en-GB" sz="4000" b="1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Analyze launch vehicle usage (PSLV, GSLV, etc.)</a:t>
            </a:r>
            <a:endParaRPr lang="en-US" altLang="en-GB" sz="36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Identify yearly and monthly launch trends</a:t>
            </a:r>
            <a:r>
              <a:rPr lang="en-GB" altLang="en-US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.</a:t>
            </a:r>
            <a:endParaRPr lang="en-US" altLang="en-GB" sz="36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Understand mission focus (communication, scientific, etc.)</a:t>
            </a:r>
            <a:endParaRPr lang="en-US" altLang="en-GB" sz="36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4000" b="1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Secondary Objectives:</a:t>
            </a:r>
            <a:endParaRPr lang="en-US" altLang="en-GB" sz="4000" b="1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Identify growth patterns</a:t>
            </a:r>
            <a:r>
              <a:rPr lang="en-GB" altLang="en-US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.</a:t>
            </a:r>
            <a:endParaRPr lang="en-US" altLang="en-GB" sz="36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Support future launch forecasting</a:t>
            </a:r>
            <a:r>
              <a:rPr lang="en-GB" altLang="en-US" sz="36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.</a:t>
            </a:r>
            <a:endParaRPr lang="en-US" altLang="en-GB" sz="36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40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Present insights in a simple dashboard</a:t>
            </a:r>
            <a:r>
              <a:rPr lang="en-GB" altLang="en-US" sz="4000" dirty="0">
                <a:solidFill>
                  <a:schemeClr val="tx1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.</a:t>
            </a:r>
            <a:endParaRPr lang="en-GB" altLang="en-US" sz="4000" dirty="0">
              <a:solidFill>
                <a:schemeClr val="tx1"/>
              </a:solidFill>
              <a:latin typeface="Times New Roman" panose="02020603050405020304" charset="0"/>
              <a:ea typeface="Poppins" panose="00000500000000000000"/>
              <a:cs typeface="Times New Roman" panose="02020603050405020304" charset="0"/>
              <a:sym typeface="Poppins" panose="000005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-17318"/>
            <a:ext cx="511191" cy="10287000"/>
            <a:chOff x="0" y="0"/>
            <a:chExt cx="134635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31" y="38368"/>
            <a:ext cx="5492979" cy="1745673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304165"/>
            <a:ext cx="3084830" cy="2141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H="1">
            <a:off x="838199" y="3314700"/>
            <a:ext cx="13302403" cy="0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56" y="83393"/>
            <a:ext cx="4425644" cy="1631107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0" y="429934"/>
            <a:ext cx="3085078" cy="1771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/>
          <p:nvPr/>
        </p:nvSpPr>
        <p:spPr>
          <a:xfrm>
            <a:off x="937895" y="2239645"/>
            <a:ext cx="8334375" cy="10325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800"/>
              </a:lnSpc>
            </a:pPr>
            <a:r>
              <a:rPr lang="en-US" altLang="en-GB" sz="5400" b="1" dirty="0">
                <a:solidFill>
                  <a:schemeClr val="accent4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DATA</a:t>
            </a:r>
            <a:r>
              <a:rPr lang="en-GB" altLang="en-US" sz="5400" b="1" dirty="0">
                <a:solidFill>
                  <a:schemeClr val="accent4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 DESCRIPTION</a:t>
            </a:r>
            <a:endParaRPr lang="en-US" altLang="en-GB" sz="5400" b="1" dirty="0">
              <a:solidFill>
                <a:schemeClr val="accent4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11" name="Group 44"/>
          <p:cNvGrpSpPr/>
          <p:nvPr/>
        </p:nvGrpSpPr>
        <p:grpSpPr>
          <a:xfrm>
            <a:off x="52379" y="0"/>
            <a:ext cx="511191" cy="10287000"/>
            <a:chOff x="0" y="0"/>
            <a:chExt cx="134635" cy="2709333"/>
          </a:xfrm>
        </p:grpSpPr>
        <p:sp>
          <p:nvSpPr>
            <p:cNvPr id="12" name="Freeform 45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3" name="TextBox 46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494665" y="3554095"/>
            <a:ext cx="16507460" cy="6538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For both Global And ISRO’s Data: </a:t>
            </a:r>
            <a:endParaRPr lang="en-GB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Satellite Name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, 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Launch Date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Launch Year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, 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Launch Vehicle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Mission Purpose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Orbit Type (LEO / MEO / GEO)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Status (Successful / 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Unsuccessful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 Data standardized for accurate comparison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H="1" flipV="1">
            <a:off x="782779" y="3314699"/>
            <a:ext cx="14304820" cy="17319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-3464"/>
            <a:ext cx="5061375" cy="1865411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0" y="429934"/>
            <a:ext cx="3085078" cy="1771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/>
          <p:nvPr/>
        </p:nvSpPr>
        <p:spPr>
          <a:xfrm>
            <a:off x="1243330" y="2136775"/>
            <a:ext cx="13333730" cy="871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altLang="en-GB" sz="5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CLEANING PROCESS</a:t>
            </a:r>
            <a:endParaRPr lang="en-US" sz="5400" b="1" dirty="0">
              <a:solidFill>
                <a:srgbClr val="3C4A2E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11" name="Group 44"/>
          <p:cNvGrpSpPr/>
          <p:nvPr/>
        </p:nvGrpSpPr>
        <p:grpSpPr>
          <a:xfrm>
            <a:off x="52379" y="0"/>
            <a:ext cx="511191" cy="10287000"/>
            <a:chOff x="0" y="0"/>
            <a:chExt cx="134635" cy="2709333"/>
          </a:xfrm>
        </p:grpSpPr>
        <p:sp>
          <p:nvSpPr>
            <p:cNvPr id="12" name="Freeform 45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3" name="TextBox 46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729615" y="3005455"/>
            <a:ext cx="16428720" cy="7059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/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Removed unnecessary technical columns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Extracted Year &amp; Month from launch date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Standardized values: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Orbit </a:t>
            </a: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 LEO / MEO / GEO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Purpose </a:t>
            </a: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 Communication, Earth Observation, Scientific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 and Technology Development.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Handled missing and duplicate values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Result: Clean, analysis-ready dataset</a:t>
            </a:r>
            <a:r>
              <a:rPr lang="en-GB" altLang="en-US" sz="3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GB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838200" y="1104900"/>
            <a:ext cx="16833850" cy="958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GB" altLang="en-US" sz="5400" b="1" dirty="0">
                <a:solidFill>
                  <a:schemeClr val="tx1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FINDINGS AND ANALYSIS</a:t>
            </a:r>
            <a:endParaRPr lang="en-GB" altLang="en-US" sz="5400" b="1" dirty="0">
              <a:solidFill>
                <a:schemeClr val="tx1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51" name="Group 51"/>
          <p:cNvGrpSpPr/>
          <p:nvPr/>
        </p:nvGrpSpPr>
        <p:grpSpPr>
          <a:xfrm>
            <a:off x="0" y="0"/>
            <a:ext cx="511191" cy="10287000"/>
            <a:chOff x="0" y="0"/>
            <a:chExt cx="134635" cy="270933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57" name="Rectangle 56"/>
          <p:cNvSpPr/>
          <p:nvPr/>
        </p:nvSpPr>
        <p:spPr>
          <a:xfrm>
            <a:off x="880745" y="4197985"/>
            <a:ext cx="16915130" cy="58788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sz="2800" dirty="0"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"/>
            <a:ext cx="4439920" cy="1463675"/>
          </a:xfrm>
          <a:prstGeom prst="rect">
            <a:avLst/>
          </a:prstGeom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339" y="247259"/>
            <a:ext cx="3085078" cy="174567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703580" y="3543935"/>
            <a:ext cx="16697960" cy="6450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" y="2192020"/>
            <a:ext cx="17317085" cy="7967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H="1" flipV="1">
            <a:off x="782779" y="3314699"/>
            <a:ext cx="14304820" cy="17319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-3464"/>
            <a:ext cx="5061375" cy="1865411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0" y="429934"/>
            <a:ext cx="3085078" cy="1771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/>
          <p:nvPr/>
        </p:nvSpPr>
        <p:spPr>
          <a:xfrm>
            <a:off x="732790" y="1861820"/>
            <a:ext cx="13333730" cy="1246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GB" altLang="en-US" sz="5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LIMITATIONS</a:t>
            </a:r>
            <a:endParaRPr lang="en-US" sz="5400" b="1" dirty="0">
              <a:solidFill>
                <a:srgbClr val="3C4A2E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11" name="Group 44"/>
          <p:cNvGrpSpPr/>
          <p:nvPr/>
        </p:nvGrpSpPr>
        <p:grpSpPr>
          <a:xfrm>
            <a:off x="52379" y="0"/>
            <a:ext cx="511191" cy="10287000"/>
            <a:chOff x="0" y="0"/>
            <a:chExt cx="134635" cy="2709333"/>
          </a:xfrm>
        </p:grpSpPr>
        <p:sp>
          <p:nvSpPr>
            <p:cNvPr id="12" name="Freeform 45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3" name="TextBox 46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729615" y="3005455"/>
            <a:ext cx="16428720" cy="593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The analysis is based only on historical satellite launch data.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The dashboard does not include real-time or live launch updates.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Limited mission-level details are available in the dataset.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Accuracy depends on the quality and completeness of the available data.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flipH="1" flipV="1">
            <a:off x="782779" y="3314699"/>
            <a:ext cx="14304820" cy="17319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oval" w="lg" len="lg"/>
            <a:tailEnd type="none" w="sm" len="sm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-3464"/>
            <a:ext cx="5061375" cy="1865411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0" y="429934"/>
            <a:ext cx="3085078" cy="1771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/>
          <p:nvPr/>
        </p:nvSpPr>
        <p:spPr>
          <a:xfrm>
            <a:off x="732790" y="1861820"/>
            <a:ext cx="13333730" cy="1246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GB" altLang="en-US" sz="5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SCOPE</a:t>
            </a:r>
            <a:endParaRPr lang="en-US" sz="5400" b="1" dirty="0">
              <a:solidFill>
                <a:srgbClr val="3C4A2E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11" name="Group 44"/>
          <p:cNvGrpSpPr/>
          <p:nvPr/>
        </p:nvGrpSpPr>
        <p:grpSpPr>
          <a:xfrm>
            <a:off x="52379" y="0"/>
            <a:ext cx="511191" cy="10287000"/>
            <a:chOff x="0" y="0"/>
            <a:chExt cx="134635" cy="2709333"/>
          </a:xfrm>
        </p:grpSpPr>
        <p:sp>
          <p:nvSpPr>
            <p:cNvPr id="12" name="Freeform 45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13" name="TextBox 46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729615" y="3005455"/>
            <a:ext cx="16428720" cy="593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Integrate real-time satellite launch data for live monitoring.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Use historical trends to support future launch planning and scheduling.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Apply predictive analytics to estimate upcoming launch trends.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Add deeper mission-level and satellite-level analysis.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3600">
                <a:latin typeface="Times New Roman" panose="02020603050405020304" charset="0"/>
                <a:cs typeface="Times New Roman" panose="02020603050405020304" charset="0"/>
              </a:rPr>
              <a:t>Expand coverage to include more private and commercial space agencies.ilable data.</a:t>
            </a:r>
            <a:endParaRPr lang="en-US" altLang="en-GB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1000" y="2095499"/>
            <a:ext cx="7010400" cy="871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dirty="0" smtClean="0">
                <a:solidFill>
                  <a:srgbClr val="3C4A2E"/>
                </a:solidFill>
                <a:latin typeface="Times New Roman" panose="02020603050405020304" charset="0"/>
                <a:ea typeface="Agrandir Bold" panose="00000800000000000000"/>
                <a:cs typeface="Times New Roman" panose="02020603050405020304" charset="0"/>
                <a:sym typeface="Agrandir Bold" panose="00000800000000000000"/>
              </a:rPr>
              <a:t>Conclusion</a:t>
            </a:r>
            <a:endParaRPr lang="en-US" sz="6800" b="1" dirty="0">
              <a:solidFill>
                <a:srgbClr val="3C4A2E"/>
              </a:solidFill>
              <a:latin typeface="Times New Roman" panose="02020603050405020304" charset="0"/>
              <a:ea typeface="Agrandir Bold" panose="00000800000000000000"/>
              <a:cs typeface="Times New Roman" panose="02020603050405020304" charset="0"/>
              <a:sym typeface="Agrandir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8768312" y="729211"/>
            <a:ext cx="609602" cy="18429777"/>
            <a:chOff x="-25919" y="-38100"/>
            <a:chExt cx="160554" cy="4952691"/>
          </a:xfrm>
        </p:grpSpPr>
        <p:sp>
          <p:nvSpPr>
            <p:cNvPr id="7" name="Freeform 7"/>
            <p:cNvSpPr/>
            <p:nvPr/>
          </p:nvSpPr>
          <p:spPr>
            <a:xfrm>
              <a:off x="-25919" y="0"/>
              <a:ext cx="134635" cy="4914591"/>
            </a:xfrm>
            <a:custGeom>
              <a:avLst/>
              <a:gdLst/>
              <a:ahLst/>
              <a:cxnLst/>
              <a:rect l="l" t="t" r="r" b="b"/>
              <a:pathLst>
                <a:path w="134635" h="4914591">
                  <a:moveTo>
                    <a:pt x="0" y="0"/>
                  </a:moveTo>
                  <a:lnTo>
                    <a:pt x="134635" y="0"/>
                  </a:lnTo>
                  <a:lnTo>
                    <a:pt x="134635" y="4914591"/>
                  </a:lnTo>
                  <a:lnTo>
                    <a:pt x="0" y="4914591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4635" cy="4952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AutoShape 3"/>
          <p:cNvSpPr/>
          <p:nvPr/>
        </p:nvSpPr>
        <p:spPr>
          <a:xfrm flipV="1">
            <a:off x="304800" y="3009900"/>
            <a:ext cx="13716000" cy="76200"/>
          </a:xfrm>
          <a:prstGeom prst="line">
            <a:avLst/>
          </a:prstGeom>
          <a:ln w="19050" cap="rnd">
            <a:solidFill>
              <a:srgbClr val="465736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2" name="Rectangle 1"/>
          <p:cNvSpPr>
            <a:spLocks noChangeArrowheads="1"/>
          </p:cNvSpPr>
          <p:nvPr/>
        </p:nvSpPr>
        <p:spPr bwMode="auto">
          <a:xfrm rot="10800000" flipV="1">
            <a:off x="304800" y="3162300"/>
            <a:ext cx="17159605" cy="664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Global satellite launches show a consistent increase over the years, indicating rapid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growth in space activities worldwide.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Top operators contribute the majority of launches, showing strong leadership in the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space sector.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ISRO demonstrates a high mission success rate, reflecting reliability and efficiency in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satellite launches.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These insights support strategic analysis, policy planning, and performance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evaluation in the space domain.</a:t>
            </a:r>
            <a:endParaRPr kumimoji="0" lang="en-US" alt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87" y="-378"/>
            <a:ext cx="5229613" cy="1927417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0" y="522377"/>
            <a:ext cx="3085078" cy="18727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0" y="0"/>
            <a:ext cx="511191" cy="10287000"/>
            <a:chOff x="0" y="0"/>
            <a:chExt cx="134635" cy="27093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635" cy="2709333"/>
            </a:xfrm>
            <a:custGeom>
              <a:avLst/>
              <a:gdLst/>
              <a:ahLst/>
              <a:cxnLst/>
              <a:rect l="l" t="t" r="r" b="b"/>
              <a:pathLst>
                <a:path w="134635" h="2709333">
                  <a:moveTo>
                    <a:pt x="0" y="0"/>
                  </a:moveTo>
                  <a:lnTo>
                    <a:pt x="134635" y="0"/>
                  </a:lnTo>
                  <a:lnTo>
                    <a:pt x="1346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CE9C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46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623060" y="668020"/>
            <a:ext cx="15834995" cy="8848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2370</Words>
  <Application>WPS Presentation</Application>
  <PresentationFormat>Custom</PresentationFormat>
  <Paragraphs>95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Agrandir Bold</vt:lpstr>
      <vt:lpstr>Segoe Print</vt:lpstr>
      <vt:lpstr>Poppins</vt:lpstr>
      <vt:lpstr>Wingdings</vt:lpstr>
      <vt:lpstr>Microsoft YaHei</vt:lpstr>
      <vt:lpstr>Arial Unicode MS</vt:lpstr>
      <vt:lpstr>Calibri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Green Simple Healthy Food Innovation Pitch Deck Presentation</dc:title>
  <dc:creator>chandana</dc:creator>
  <cp:lastModifiedBy>WPS_1768313926</cp:lastModifiedBy>
  <cp:revision>92</cp:revision>
  <dcterms:created xsi:type="dcterms:W3CDTF">2006-08-16T00:00:00Z</dcterms:created>
  <dcterms:modified xsi:type="dcterms:W3CDTF">2026-02-06T05:40:18Z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ADB8DC1FE618450ABE604CAFF14604E2_13</vt:lpwstr>
  </property>
  <property fmtid="{D5CDD505-2E9C-101B-9397-08002B2CF9AE}" pid="3" name="KSOProductBuildVer">
    <vt:lpwstr>2057-12.2.0.23196</vt:lpwstr>
  </property>
</Properties>
</file>